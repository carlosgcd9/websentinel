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ovGxR5qm/8jws/uBErk6VmbR5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Proposed project design for the first submission. Requirements source: user-provided course brief in “Ideas de proyectos web”. All product behavior, schedules and commercial figures are design proposals, not implemented or validated results.</a:t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Proposed project design for the first submission. Requirements source: user-provided course brief in “Ideas de proyectos web”. All product behavior, schedules and commercial figures are design proposals, not implemented or validated results.</a:t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Proposed project design for the first submission. Requirements source: user-provided course brief in “Ideas de proyectos web”. All product behavior, schedules and commercial figures are design proposals, not implemented or validated results.</a:t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Proposed project design for the first submission. Requirements source: user-provided course brief in “Ideas de proyectos web”. All product behavior, schedules and commercial figures are design proposals, not implemented or validated results.</a:t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Proposed project design for the first submission. Requirements source: user-provided course brief in “Ideas de proyectos web”. All product behavior, schedules and commercial figures are design proposals, not implemented or validated results.</a:t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Proposed project design for the first submission. Requirements source: user-provided course brief in “Ideas de proyectos web”. All product behavior, schedules and commercial figures are design proposals, not implemented or validated results.</a:t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Proposed project design for the first submission. Requirements source: user-provided course brief in “Ideas de proyectos web”. All product behavior, schedules and commercial figures are design proposals, not implemented or validated results.</a:t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Proposed project design for the first submission. Requirements source: user-provided course brief in “Ideas de proyectos web”. All product behavior, schedules and commercial figures are design proposals, not implemented or validated results.</a:t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Proposed project design for the first submission. Requirements source: user-provided course brief in “Ideas de proyectos web”. All product behavior, schedules and commercial figures are design proposals, not implemented or validated results.</a:t>
            </a:r>
            <a:endParaRPr/>
          </a:p>
        </p:txBody>
      </p:sp>
      <p:sp>
        <p:nvSpPr>
          <p:cNvPr id="197" name="Google Shape;19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Proposed project design for the first submission. Requirements source: user-provided course brief in “Ideas de proyectos web”. All product behavior, schedules and commercial figures are design proposals, not implemented or validated results.</a:t>
            </a:r>
            <a:endParaRPr/>
          </a:p>
        </p:txBody>
      </p:sp>
      <p:sp>
        <p:nvSpPr>
          <p:cNvPr id="222" name="Google Shape;22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Proposed project design for the first submission. Requirements source: user-provided course brief in “Ideas de proyectos web”. All product behavior, schedules and commercial figures are design proposals, not implemented or validated results.</a:t>
            </a:r>
            <a:endParaRPr/>
          </a:p>
        </p:txBody>
      </p:sp>
      <p:sp>
        <p:nvSpPr>
          <p:cNvPr id="242" name="Google Shape;24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Proposed project design for the first submission. Requirements source: user-provided course brief in “Ideas de proyectos web”. All product behavior, schedules and commercial figures are design proposals, not implemented or validated results.</a:t>
            </a:r>
            <a:endParaRPr/>
          </a:p>
        </p:txBody>
      </p:sp>
      <p:sp>
        <p:nvSpPr>
          <p:cNvPr id="268" name="Google Shape;26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Proposed project design for the first submission. Requirements source: user-provided course brief in “Ideas de proyectos web”. All product behavior, schedules and commercial figures are design proposals, not implemented or validated results.</a:t>
            </a:r>
            <a:endParaRPr/>
          </a:p>
        </p:txBody>
      </p:sp>
      <p:sp>
        <p:nvSpPr>
          <p:cNvPr id="285" name="Google Shape;28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Proposed project design for the first submission. Requirements source: user-provided course brief in “Ideas de proyectos web”. All product behavior, schedules and commercial figures are design proposals, not implemented or validated results.</a:t>
            </a:r>
            <a:endParaRPr/>
          </a:p>
        </p:txBody>
      </p:sp>
      <p:sp>
        <p:nvSpPr>
          <p:cNvPr id="304" name="Google Shape;30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43d2fafd8e4ba775_0_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h43d2fafd8e4ba775_0_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Proposed project design for the first submission. Requirements source: user-provided course brief in “Ideas de proyectos web”. All product behavior, schedules and commercial figures are design proposals, not implemented or validated results.</a:t>
            </a:r>
            <a:endParaRPr/>
          </a:p>
        </p:txBody>
      </p:sp>
      <p:sp>
        <p:nvSpPr>
          <p:cNvPr id="328" name="Google Shape;328;h43d2fafd8e4ba775_0_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0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2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2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714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"/>
          <p:cNvSpPr/>
          <p:nvPr/>
        </p:nvSpPr>
        <p:spPr>
          <a:xfrm>
            <a:off x="495300" y="2857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125"/>
              <a:buFont typeface="Verdana"/>
              <a:buNone/>
            </a:pPr>
            <a:r>
              <a:rPr b="1" lang="en-US" sz="112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WS:// 01 / PROJECT TITLE AND DESCRIPTION</a:t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495300" y="762000"/>
            <a:ext cx="11144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WebSentinel</a:t>
            </a:r>
            <a:endParaRPr/>
          </a:p>
        </p:txBody>
      </p:sp>
      <p:cxnSp>
        <p:nvCxnSpPr>
          <p:cNvPr id="33" name="Google Shape;33;p1"/>
          <p:cNvCxnSpPr/>
          <p:nvPr/>
        </p:nvCxnSpPr>
        <p:spPr>
          <a:xfrm>
            <a:off x="495300" y="6238875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3945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1"/>
          <p:cNvSpPr/>
          <p:nvPr/>
        </p:nvSpPr>
        <p:spPr>
          <a:xfrm>
            <a:off x="495300" y="6419850"/>
            <a:ext cx="95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900"/>
              <a:buFont typeface="Verdana"/>
              <a:buNone/>
            </a:pPr>
            <a:r>
              <a:rPr b="0" lang="en-US" sz="9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FIRST SUBMISSION   /   27 OCT 2026</a:t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11144250" y="63817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01</a:t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495300" y="1828800"/>
            <a:ext cx="109537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2625"/>
              <a:buFont typeface="Verdana"/>
              <a:buNone/>
            </a:pPr>
            <a:r>
              <a:rPr b="1" lang="en-US" sz="262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&gt; passive_security_monitor</a:t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495300" y="2857500"/>
            <a:ext cx="933450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2175"/>
              <a:buFont typeface="Verdana"/>
              <a:buNone/>
            </a:pPr>
            <a:r>
              <a:rPr b="0" lang="en-US" sz="2175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A web application that helps developers, small businesses and web agencies inspect the security configuration of websites they control.</a:t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495300" y="4476750"/>
            <a:ext cx="10001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2025"/>
              <a:buFont typeface="Verdana"/>
              <a:buNone/>
            </a:pPr>
            <a:r>
              <a:rPr b="0" lang="en-US" sz="2025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Register a domain. Verify control. Run a bounded analysis. Review evidence and fixes over time.</a:t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9829800" y="5789400"/>
            <a:ext cx="18672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2025"/>
              <a:buFont typeface="Verdana"/>
              <a:buNone/>
            </a:pPr>
            <a:r>
              <a:rPr lang="en-US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Carlos</a:t>
            </a:r>
            <a:r>
              <a:rPr lang="en-US"/>
              <a:t> </a:t>
            </a:r>
            <a:r>
              <a:rPr lang="en-US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García</a:t>
            </a:r>
            <a:r>
              <a:rPr lang="en-US"/>
              <a:t> </a:t>
            </a:r>
            <a:r>
              <a:rPr lang="en-US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Cabezudo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714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/>
          <p:nvPr/>
        </p:nvSpPr>
        <p:spPr>
          <a:xfrm>
            <a:off x="495300" y="2857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125"/>
              <a:buFont typeface="Verdana"/>
              <a:buNone/>
            </a:pPr>
            <a:r>
              <a:rPr b="1" lang="en-US" sz="112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WS:// 02 / MAIN OBJECTIVES AND FUNCTIONALITY</a:t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95300" y="762000"/>
            <a:ext cx="11144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Core prototype</a:t>
            </a:r>
            <a:endParaRPr/>
          </a:p>
        </p:txBody>
      </p:sp>
      <p:cxnSp>
        <p:nvCxnSpPr>
          <p:cNvPr id="47" name="Google Shape;47;p2"/>
          <p:cNvCxnSpPr/>
          <p:nvPr/>
        </p:nvCxnSpPr>
        <p:spPr>
          <a:xfrm>
            <a:off x="495300" y="6238875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3945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2"/>
          <p:cNvSpPr/>
          <p:nvPr/>
        </p:nvSpPr>
        <p:spPr>
          <a:xfrm>
            <a:off x="495300" y="6419850"/>
            <a:ext cx="95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900"/>
              <a:buFont typeface="Verdana"/>
              <a:buNone/>
            </a:pPr>
            <a:r>
              <a:rPr b="0" lang="en-US" sz="9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FIRST SUBMISSION   /   27 OCT 2026</a:t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11144250" y="63817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95300" y="1557338"/>
            <a:ext cx="1120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01  Account and domain management</a:t>
            </a:r>
            <a:endParaRPr sz="2400"/>
          </a:p>
        </p:txBody>
      </p:sp>
      <p:sp>
        <p:nvSpPr>
          <p:cNvPr id="51" name="Google Shape;51;p2"/>
          <p:cNvSpPr/>
          <p:nvPr/>
        </p:nvSpPr>
        <p:spPr>
          <a:xfrm>
            <a:off x="495300" y="1881188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Register, sign in, add a website and prove domain control.</a:t>
            </a:r>
            <a:endParaRPr sz="2400"/>
          </a:p>
        </p:txBody>
      </p:sp>
      <p:sp>
        <p:nvSpPr>
          <p:cNvPr id="52" name="Google Shape;52;p2"/>
          <p:cNvSpPr/>
          <p:nvPr/>
        </p:nvSpPr>
        <p:spPr>
          <a:xfrm>
            <a:off x="495300" y="2557463"/>
            <a:ext cx="1120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02  Bounded passive analysis</a:t>
            </a:r>
            <a:endParaRPr sz="2400"/>
          </a:p>
        </p:txBody>
      </p:sp>
      <p:sp>
        <p:nvSpPr>
          <p:cNvPr id="53" name="Google Shape;53;p2"/>
          <p:cNvSpPr/>
          <p:nvPr/>
        </p:nvSpPr>
        <p:spPr>
          <a:xfrm>
            <a:off x="495300" y="2881313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Inspect HTTP headers, certificate metadata and cookie attributes.</a:t>
            </a:r>
            <a:endParaRPr sz="2400"/>
          </a:p>
        </p:txBody>
      </p:sp>
      <p:sp>
        <p:nvSpPr>
          <p:cNvPr id="54" name="Google Shape;54;p2"/>
          <p:cNvSpPr/>
          <p:nvPr/>
        </p:nvSpPr>
        <p:spPr>
          <a:xfrm>
            <a:off x="495300" y="3557588"/>
            <a:ext cx="1120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03  Findings and history</a:t>
            </a:r>
            <a:endParaRPr sz="2400"/>
          </a:p>
        </p:txBody>
      </p:sp>
      <p:sp>
        <p:nvSpPr>
          <p:cNvPr id="55" name="Google Shape;55;p2"/>
          <p:cNvSpPr/>
          <p:nvPr/>
        </p:nvSpPr>
        <p:spPr>
          <a:xfrm>
            <a:off x="495300" y="3881438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Show severity, evidence, remediation and changes between scans.</a:t>
            </a:r>
            <a:endParaRPr sz="2400"/>
          </a:p>
        </p:txBody>
      </p:sp>
      <p:sp>
        <p:nvSpPr>
          <p:cNvPr id="56" name="Google Shape;56;p2"/>
          <p:cNvSpPr/>
          <p:nvPr/>
        </p:nvSpPr>
        <p:spPr>
          <a:xfrm>
            <a:off x="495300" y="4557713"/>
            <a:ext cx="1120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04  Programmatic access</a:t>
            </a:r>
            <a:endParaRPr sz="2400"/>
          </a:p>
        </p:txBody>
      </p:sp>
      <p:sp>
        <p:nvSpPr>
          <p:cNvPr id="57" name="Google Shape;57;p2"/>
          <p:cNvSpPr/>
          <p:nvPr/>
        </p:nvSpPr>
        <p:spPr>
          <a:xfrm>
            <a:off x="495300" y="4881563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Provide authenticated REST endpoints and OpenAPI documentation.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714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495300" y="2857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125"/>
              <a:buFont typeface="Verdana"/>
              <a:buNone/>
            </a:pPr>
            <a:r>
              <a:rPr b="1" lang="en-US" sz="112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WS:// 02 / MAIN OBJECTIVES AND FUNCTIONALITY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95300" y="762000"/>
            <a:ext cx="11144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Scope and acceptance criteria</a:t>
            </a:r>
            <a:endParaRPr sz="3000"/>
          </a:p>
        </p:txBody>
      </p:sp>
      <p:cxnSp>
        <p:nvCxnSpPr>
          <p:cNvPr id="65" name="Google Shape;65;p3"/>
          <p:cNvCxnSpPr/>
          <p:nvPr/>
        </p:nvCxnSpPr>
        <p:spPr>
          <a:xfrm>
            <a:off x="495300" y="6238875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3945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3"/>
          <p:cNvSpPr/>
          <p:nvPr/>
        </p:nvSpPr>
        <p:spPr>
          <a:xfrm>
            <a:off x="495300" y="6419850"/>
            <a:ext cx="95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900"/>
              <a:buFont typeface="Verdana"/>
              <a:buNone/>
            </a:pPr>
            <a:r>
              <a:rPr b="0" lang="en-US" sz="9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FIRST SUBMISSION   /   27 OCT 2026</a:t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11144250" y="63817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95300" y="190500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Required for the working prototype</a:t>
            </a:r>
            <a:endParaRPr sz="2400"/>
          </a:p>
        </p:txBody>
      </p:sp>
      <p:sp>
        <p:nvSpPr>
          <p:cNvPr id="69" name="Google Shape;69;p3"/>
          <p:cNvSpPr/>
          <p:nvPr/>
        </p:nvSpPr>
        <p:spPr>
          <a:xfrm>
            <a:off x="495300" y="222885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One verified public domain, manual scans, persistent history and a usable report.</a:t>
            </a:r>
            <a:endParaRPr sz="2400"/>
          </a:p>
        </p:txBody>
      </p:sp>
      <p:sp>
        <p:nvSpPr>
          <p:cNvPr id="70" name="Google Shape;70;p3"/>
          <p:cNvSpPr/>
          <p:nvPr/>
        </p:nvSpPr>
        <p:spPr>
          <a:xfrm>
            <a:off x="495300" y="2905125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Optional if time permits</a:t>
            </a:r>
            <a:endParaRPr sz="2400"/>
          </a:p>
        </p:txBody>
      </p:sp>
      <p:sp>
        <p:nvSpPr>
          <p:cNvPr id="71" name="Google Shape;71;p3"/>
          <p:cNvSpPr/>
          <p:nvPr/>
        </p:nvSpPr>
        <p:spPr>
          <a:xfrm>
            <a:off x="495300" y="3228975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Scheduled scans, CSV export and manual deletion of previous scan results.</a:t>
            </a:r>
            <a:endParaRPr sz="2400"/>
          </a:p>
        </p:txBody>
      </p:sp>
      <p:sp>
        <p:nvSpPr>
          <p:cNvPr id="72" name="Google Shape;72;p3"/>
          <p:cNvSpPr/>
          <p:nvPr/>
        </p:nvSpPr>
        <p:spPr>
          <a:xfrm>
            <a:off x="495300" y="39052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Optional external enrichment</a:t>
            </a:r>
            <a:endParaRPr sz="2400"/>
          </a:p>
        </p:txBody>
      </p:sp>
      <p:sp>
        <p:nvSpPr>
          <p:cNvPr id="73" name="Google Shape;73;p3"/>
          <p:cNvSpPr/>
          <p:nvPr/>
        </p:nvSpPr>
        <p:spPr>
          <a:xfrm>
            <a:off x="495300" y="42291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Reference links and cached guidance from a curated OWASP knowledge catalog.</a:t>
            </a:r>
            <a:endParaRPr sz="2400"/>
          </a:p>
        </p:txBody>
      </p:sp>
      <p:sp>
        <p:nvSpPr>
          <p:cNvPr id="74" name="Google Shape;74;p3"/>
          <p:cNvSpPr/>
          <p:nvPr/>
        </p:nvSpPr>
        <p:spPr>
          <a:xfrm>
            <a:off x="495300" y="4905375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Acceptance evidence</a:t>
            </a:r>
            <a:endParaRPr sz="2400"/>
          </a:p>
        </p:txBody>
      </p:sp>
      <p:sp>
        <p:nvSpPr>
          <p:cNvPr id="75" name="Google Shape;75;p3"/>
          <p:cNvSpPr/>
          <p:nvPr/>
        </p:nvSpPr>
        <p:spPr>
          <a:xfrm>
            <a:off x="495300" y="5229225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Demo account isolation, rejected unverified scans, saved results and a scan comparison.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714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4"/>
          <p:cNvCxnSpPr>
            <a:stCxn id="82" idx="1"/>
            <a:endCxn id="83" idx="3"/>
          </p:cNvCxnSpPr>
          <p:nvPr/>
        </p:nvCxnSpPr>
        <p:spPr>
          <a:xfrm rot="10800000">
            <a:off x="7000875" y="4524375"/>
            <a:ext cx="952500" cy="0"/>
          </a:xfrm>
          <a:prstGeom prst="straightConnector1">
            <a:avLst/>
          </a:prstGeom>
          <a:noFill/>
          <a:ln cap="flat" cmpd="sng" w="19050">
            <a:solidFill>
              <a:srgbClr val="C0FF39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84" name="Google Shape;84;p4"/>
          <p:cNvCxnSpPr>
            <a:stCxn id="85" idx="2"/>
            <a:endCxn id="83" idx="0"/>
          </p:cNvCxnSpPr>
          <p:nvPr/>
        </p:nvCxnSpPr>
        <p:spPr>
          <a:xfrm rot="5400000">
            <a:off x="7143750" y="1333500"/>
            <a:ext cx="952500" cy="4381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0FF39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86" name="Google Shape;86;p4"/>
          <p:cNvCxnSpPr>
            <a:stCxn id="85" idx="2"/>
            <a:endCxn id="82" idx="0"/>
          </p:cNvCxnSpPr>
          <p:nvPr/>
        </p:nvCxnSpPr>
        <p:spPr>
          <a:xfrm>
            <a:off x="9810750" y="3048000"/>
            <a:ext cx="0" cy="952500"/>
          </a:xfrm>
          <a:prstGeom prst="straightConnector1">
            <a:avLst/>
          </a:prstGeom>
          <a:noFill/>
          <a:ln cap="flat" cmpd="sng" w="19050">
            <a:solidFill>
              <a:srgbClr val="C0FF39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87" name="Google Shape;87;p4"/>
          <p:cNvCxnSpPr>
            <a:stCxn id="88" idx="3"/>
            <a:endCxn id="85" idx="1"/>
          </p:cNvCxnSpPr>
          <p:nvPr/>
        </p:nvCxnSpPr>
        <p:spPr>
          <a:xfrm>
            <a:off x="7000875" y="2524125"/>
            <a:ext cx="952500" cy="0"/>
          </a:xfrm>
          <a:prstGeom prst="straightConnector1">
            <a:avLst/>
          </a:prstGeom>
          <a:noFill/>
          <a:ln cap="flat" cmpd="sng" w="19050">
            <a:solidFill>
              <a:srgbClr val="C0FF39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89" name="Google Shape;89;p4"/>
          <p:cNvCxnSpPr>
            <a:stCxn id="90" idx="3"/>
            <a:endCxn id="88" idx="1"/>
          </p:cNvCxnSpPr>
          <p:nvPr/>
        </p:nvCxnSpPr>
        <p:spPr>
          <a:xfrm>
            <a:off x="3067050" y="2524125"/>
            <a:ext cx="790500" cy="0"/>
          </a:xfrm>
          <a:prstGeom prst="straightConnector1">
            <a:avLst/>
          </a:prstGeom>
          <a:noFill/>
          <a:ln cap="flat" cmpd="sng" w="19050">
            <a:solidFill>
              <a:srgbClr val="C0FF39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91" name="Google Shape;91;p4"/>
          <p:cNvSpPr/>
          <p:nvPr/>
        </p:nvSpPr>
        <p:spPr>
          <a:xfrm>
            <a:off x="495300" y="2857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125"/>
              <a:buFont typeface="Verdana"/>
              <a:buNone/>
            </a:pPr>
            <a:r>
              <a:rPr b="1" lang="en-US" sz="112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WS:// 03 / SOLUTION ARCHITECTURE</a:t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95300" y="762000"/>
            <a:ext cx="11144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Microservices and communication</a:t>
            </a:r>
            <a:endParaRPr/>
          </a:p>
        </p:txBody>
      </p:sp>
      <p:cxnSp>
        <p:nvCxnSpPr>
          <p:cNvPr id="93" name="Google Shape;93;p4"/>
          <p:cNvCxnSpPr/>
          <p:nvPr/>
        </p:nvCxnSpPr>
        <p:spPr>
          <a:xfrm>
            <a:off x="495300" y="6238875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3945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4"/>
          <p:cNvSpPr/>
          <p:nvPr/>
        </p:nvSpPr>
        <p:spPr>
          <a:xfrm>
            <a:off x="495300" y="6419850"/>
            <a:ext cx="95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900"/>
              <a:buFont typeface="Verdana"/>
              <a:buNone/>
            </a:pPr>
            <a:r>
              <a:rPr b="0" lang="en-US" sz="9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FIRST SUBMISSION   /   27 OCT 2026</a:t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11144250" y="63817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04</a:t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95300" y="2000250"/>
            <a:ext cx="2571750" cy="104775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647700" y="2143125"/>
            <a:ext cx="22669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Angular SPA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HTML5 + TypeScript</a:t>
            </a:r>
            <a:endParaRPr sz="2000"/>
          </a:p>
        </p:txBody>
      </p:sp>
      <p:sp>
        <p:nvSpPr>
          <p:cNvPr id="88" name="Google Shape;88;p4"/>
          <p:cNvSpPr/>
          <p:nvPr/>
        </p:nvSpPr>
        <p:spPr>
          <a:xfrm>
            <a:off x="3857625" y="2000250"/>
            <a:ext cx="3143250" cy="104775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t/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010025" y="2143125"/>
            <a:ext cx="2838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Nginx gateway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Public entry point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953375" y="2000250"/>
            <a:ext cx="3714750" cy="104775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8105775" y="2143125"/>
            <a:ext cx="34099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Node.js / Express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Accounts + orchestration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200400" y="1695450"/>
            <a:ext cx="44291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1200"/>
              <a:buFont typeface="Verdana"/>
              <a:buNone/>
            </a:pPr>
            <a:r>
              <a:rPr b="0" lang="en-US" sz="12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HTTPS / REST JSON</a:t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7953375" y="4000500"/>
            <a:ext cx="3714750" cy="104775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8105775" y="4143375"/>
            <a:ext cx="34099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Python / FastAPI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Passive scan worker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857625" y="4000500"/>
            <a:ext cx="3143250" cy="104775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4010025" y="4143375"/>
            <a:ext cx="2838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PostgreSQL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Separate service schemas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572500" y="3167050"/>
            <a:ext cx="3619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1275"/>
              <a:buFont typeface="Verdana"/>
              <a:buNone/>
            </a:pPr>
            <a:r>
              <a:rPr b="0" lang="en-US" sz="1275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Internal REST + service identity</a:t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495300" y="5429250"/>
            <a:ext cx="10858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165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Gateway routes requests. Express coordinates jobs. Only the gateway exposes public ports.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714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495300" y="2857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125"/>
              <a:buFont typeface="Verdana"/>
              <a:buNone/>
            </a:pPr>
            <a:r>
              <a:rPr b="1" lang="en-US" sz="112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WS:// 03 / SOLUTION ARCHITECTURE</a:t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495300" y="762000"/>
            <a:ext cx="11144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Scan lifecycle and authorization</a:t>
            </a:r>
            <a:endParaRPr/>
          </a:p>
        </p:txBody>
      </p:sp>
      <p:cxnSp>
        <p:nvCxnSpPr>
          <p:cNvPr id="111" name="Google Shape;111;p5"/>
          <p:cNvCxnSpPr/>
          <p:nvPr/>
        </p:nvCxnSpPr>
        <p:spPr>
          <a:xfrm>
            <a:off x="495300" y="6238875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3945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5"/>
          <p:cNvSpPr/>
          <p:nvPr/>
        </p:nvSpPr>
        <p:spPr>
          <a:xfrm>
            <a:off x="495300" y="6419850"/>
            <a:ext cx="95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900"/>
              <a:buFont typeface="Verdana"/>
              <a:buNone/>
            </a:pPr>
            <a:r>
              <a:rPr b="0" lang="en-US" sz="9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FIRST SUBMISSION   /   27 OCT 2026</a:t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11144250" y="63817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05</a:t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95300" y="18097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1  User request</a:t>
            </a:r>
            <a:endParaRPr sz="2400"/>
          </a:p>
        </p:txBody>
      </p:sp>
      <p:sp>
        <p:nvSpPr>
          <p:cNvPr id="115" name="Google Shape;115;p5"/>
          <p:cNvSpPr/>
          <p:nvPr/>
        </p:nvSpPr>
        <p:spPr>
          <a:xfrm>
            <a:off x="495300" y="21336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Express validates the session, website ownership and domain verification.</a:t>
            </a:r>
            <a:endParaRPr sz="24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t/>
            </a:r>
            <a:endParaRPr sz="24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95300" y="26479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2  Durable job</a:t>
            </a:r>
            <a:endParaRPr sz="2400"/>
          </a:p>
        </p:txBody>
      </p:sp>
      <p:sp>
        <p:nvSpPr>
          <p:cNvPr id="117" name="Google Shape;117;p5"/>
          <p:cNvSpPr/>
          <p:nvPr/>
        </p:nvSpPr>
        <p:spPr>
          <a:xfrm>
            <a:off x="495300" y="29718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Express creates a queued scan and submits its ID to FastAPI over internal REST.</a:t>
            </a:r>
            <a:endParaRPr sz="2400"/>
          </a:p>
        </p:txBody>
      </p:sp>
      <p:sp>
        <p:nvSpPr>
          <p:cNvPr id="118" name="Google Shape;118;p5"/>
          <p:cNvSpPr/>
          <p:nvPr/>
        </p:nvSpPr>
        <p:spPr>
          <a:xfrm>
            <a:off x="495300" y="34861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3  Safe outbound requests</a:t>
            </a:r>
            <a:endParaRPr sz="2400"/>
          </a:p>
        </p:txBody>
      </p:sp>
      <p:sp>
        <p:nvSpPr>
          <p:cNvPr id="119" name="Google Shape;119;p5"/>
          <p:cNvSpPr/>
          <p:nvPr/>
        </p:nvSpPr>
        <p:spPr>
          <a:xfrm>
            <a:off x="495300" y="38100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Worker rechecks the target, limits redirects, time, bytes and concurrency.</a:t>
            </a:r>
            <a:endParaRPr sz="2400"/>
          </a:p>
        </p:txBody>
      </p:sp>
      <p:sp>
        <p:nvSpPr>
          <p:cNvPr id="120" name="Google Shape;120;p5"/>
          <p:cNvSpPr/>
          <p:nvPr/>
        </p:nvSpPr>
        <p:spPr>
          <a:xfrm>
            <a:off x="495300" y="43243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4  Stored results</a:t>
            </a:r>
            <a:endParaRPr sz="2400"/>
          </a:p>
        </p:txBody>
      </p:sp>
      <p:sp>
        <p:nvSpPr>
          <p:cNvPr id="121" name="Google Shape;121;p5"/>
          <p:cNvSpPr/>
          <p:nvPr/>
        </p:nvSpPr>
        <p:spPr>
          <a:xfrm>
            <a:off x="495300" y="46482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Worker commits findings. Angular polls the status through Express.</a:t>
            </a:r>
            <a:endParaRPr sz="2400"/>
          </a:p>
        </p:txBody>
      </p:sp>
      <p:sp>
        <p:nvSpPr>
          <p:cNvPr id="122" name="Google Shape;122;p5"/>
          <p:cNvSpPr/>
          <p:nvPr/>
        </p:nvSpPr>
        <p:spPr>
          <a:xfrm>
            <a:off x="495300" y="51625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Failure handling</a:t>
            </a:r>
            <a:endParaRPr sz="2400"/>
          </a:p>
        </p:txBody>
      </p:sp>
      <p:sp>
        <p:nvSpPr>
          <p:cNvPr id="123" name="Google Shape;123;p5"/>
          <p:cNvSpPr/>
          <p:nvPr/>
        </p:nvSpPr>
        <p:spPr>
          <a:xfrm>
            <a:off x="495300" y="54864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Idempotency keys prevent duplicates. Failed jobs retain a reason and support retry.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71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495300" y="2857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125"/>
              <a:buFont typeface="Verdana"/>
              <a:buNone/>
            </a:pPr>
            <a:r>
              <a:rPr b="1" lang="en-US" sz="112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WS:// 03 / SOLUTION ARCHITECTURE</a:t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495300" y="762000"/>
            <a:ext cx="11144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Passive checks and trust boundaries</a:t>
            </a:r>
            <a:endParaRPr/>
          </a:p>
        </p:txBody>
      </p:sp>
      <p:cxnSp>
        <p:nvCxnSpPr>
          <p:cNvPr id="131" name="Google Shape;131;p6"/>
          <p:cNvCxnSpPr/>
          <p:nvPr/>
        </p:nvCxnSpPr>
        <p:spPr>
          <a:xfrm>
            <a:off x="495300" y="6238875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3945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6"/>
          <p:cNvSpPr/>
          <p:nvPr/>
        </p:nvSpPr>
        <p:spPr>
          <a:xfrm>
            <a:off x="495300" y="6419850"/>
            <a:ext cx="95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900"/>
              <a:buFont typeface="Verdana"/>
              <a:buNone/>
            </a:pPr>
            <a:r>
              <a:rPr b="0" lang="en-US" sz="9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FIRST SUBMISSION   /   27 OCT 2026</a:t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11144250" y="63817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06</a:t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95300" y="1905000"/>
            <a:ext cx="514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2100"/>
              <a:buFont typeface="Verdana"/>
              <a:buNone/>
            </a:pPr>
            <a:r>
              <a:rPr b="1" lang="en-US" sz="22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Analysis coverage</a:t>
            </a:r>
            <a:endParaRPr sz="2200"/>
          </a:p>
        </p:txBody>
      </p:sp>
      <p:sp>
        <p:nvSpPr>
          <p:cNvPr id="135" name="Google Shape;135;p6"/>
          <p:cNvSpPr/>
          <p:nvPr/>
        </p:nvSpPr>
        <p:spPr>
          <a:xfrm>
            <a:off x="495300" y="2457450"/>
            <a:ext cx="51435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rPr b="0" lang="en-US" sz="22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HTTP: CSP, HSTS, frame and MIME controls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t/>
            </a:r>
            <a:endParaRPr b="0" sz="22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rPr b="0" lang="en-US" sz="22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TLS: validity, expiry and certificate host match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t/>
            </a:r>
            <a:endParaRPr b="0" sz="22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rPr b="0" lang="en-US" sz="22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Cookies: Secure, HttpOnly and SameSite flags</a:t>
            </a:r>
            <a:endParaRPr sz="2200"/>
          </a:p>
        </p:txBody>
      </p:sp>
      <p:sp>
        <p:nvSpPr>
          <p:cNvPr id="136" name="Google Shape;136;p6"/>
          <p:cNvSpPr/>
          <p:nvPr/>
        </p:nvSpPr>
        <p:spPr>
          <a:xfrm>
            <a:off x="6477000" y="1905000"/>
            <a:ext cx="5191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2100"/>
              <a:buFont typeface="Verdana"/>
              <a:buNone/>
            </a:pPr>
            <a:r>
              <a:rPr b="1" lang="en-US" sz="22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Authorization and limits</a:t>
            </a:r>
            <a:endParaRPr sz="2200"/>
          </a:p>
        </p:txBody>
      </p:sp>
      <p:sp>
        <p:nvSpPr>
          <p:cNvPr id="137" name="Google Shape;137;p6"/>
          <p:cNvSpPr/>
          <p:nvPr/>
        </p:nvSpPr>
        <p:spPr>
          <a:xfrm>
            <a:off x="6477000" y="2457450"/>
            <a:ext cx="5191125" cy="2762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rPr b="0" lang="en-US" sz="22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DNS TXT challenge proves domain control.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t/>
            </a:r>
            <a:endParaRPr b="0" sz="22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rPr b="0" lang="en-US" sz="22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Every resource query checks its owner.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t/>
            </a:r>
            <a:endParaRPr b="0" sz="22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rPr b="0" lang="en-US" sz="22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Allow HTTP(S) public hosts only. Revalidate DNS and each redirect to block internal targets.</a:t>
            </a:r>
            <a:endParaRPr sz="2200"/>
          </a:p>
        </p:txBody>
      </p:sp>
      <p:sp>
        <p:nvSpPr>
          <p:cNvPr id="138" name="Google Shape;138;p6"/>
          <p:cNvSpPr/>
          <p:nvPr/>
        </p:nvSpPr>
        <p:spPr>
          <a:xfrm>
            <a:off x="495300" y="5476875"/>
            <a:ext cx="11144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1575"/>
              <a:buFont typeface="Verdana"/>
              <a:buNone/>
            </a:pPr>
            <a:r>
              <a:rPr b="0" lang="en-US" sz="1575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No exploitation, login guessing or port scans. Findings describe observed configuration, not proof of vulnerability.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714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/>
          <p:nvPr/>
        </p:nvSpPr>
        <p:spPr>
          <a:xfrm>
            <a:off x="495300" y="2857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125"/>
              <a:buFont typeface="Verdana"/>
              <a:buNone/>
            </a:pPr>
            <a:r>
              <a:rPr b="1" lang="en-US" sz="112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WS:// 04 / TECHNOLOGIES TO BE USED</a:t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495300" y="762000"/>
            <a:ext cx="11144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A focused implementation stack</a:t>
            </a:r>
            <a:endParaRPr/>
          </a:p>
        </p:txBody>
      </p:sp>
      <p:cxnSp>
        <p:nvCxnSpPr>
          <p:cNvPr id="146" name="Google Shape;146;p7"/>
          <p:cNvCxnSpPr/>
          <p:nvPr/>
        </p:nvCxnSpPr>
        <p:spPr>
          <a:xfrm>
            <a:off x="495300" y="6238875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3945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7"/>
          <p:cNvSpPr/>
          <p:nvPr/>
        </p:nvSpPr>
        <p:spPr>
          <a:xfrm>
            <a:off x="495300" y="6419850"/>
            <a:ext cx="95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900"/>
              <a:buFont typeface="Verdana"/>
              <a:buNone/>
            </a:pPr>
            <a:r>
              <a:rPr b="0" lang="en-US" sz="9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FIRST SUBMISSION   /   27 OCT 2026</a:t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1144250" y="63817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07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95300" y="18097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Angular + TypeScript + HTML5</a:t>
            </a:r>
            <a:endParaRPr sz="2400"/>
          </a:p>
        </p:txBody>
      </p:sp>
      <p:sp>
        <p:nvSpPr>
          <p:cNvPr id="150" name="Google Shape;150;p7"/>
          <p:cNvSpPr/>
          <p:nvPr/>
        </p:nvSpPr>
        <p:spPr>
          <a:xfrm>
            <a:off x="495300" y="21336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SPA routes and forms. HttpClient with asynchronous requests and status polling.</a:t>
            </a:r>
            <a:endParaRPr sz="2400"/>
          </a:p>
        </p:txBody>
      </p:sp>
      <p:sp>
        <p:nvSpPr>
          <p:cNvPr id="151" name="Google Shape;151;p7"/>
          <p:cNvSpPr/>
          <p:nvPr/>
        </p:nvSpPr>
        <p:spPr>
          <a:xfrm>
            <a:off x="495300" y="26479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Node.js + Express + ES modules</a:t>
            </a:r>
            <a:endParaRPr sz="2400"/>
          </a:p>
        </p:txBody>
      </p:sp>
      <p:sp>
        <p:nvSpPr>
          <p:cNvPr id="152" name="Google Shape;152;p7"/>
          <p:cNvSpPr/>
          <p:nvPr/>
        </p:nvSpPr>
        <p:spPr>
          <a:xfrm>
            <a:off x="495300" y="29718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Authentication, website ownership, authorization and scan orchestration.</a:t>
            </a:r>
            <a:endParaRPr sz="2400"/>
          </a:p>
        </p:txBody>
      </p:sp>
      <p:sp>
        <p:nvSpPr>
          <p:cNvPr id="153" name="Google Shape;153;p7"/>
          <p:cNvSpPr/>
          <p:nvPr/>
        </p:nvSpPr>
        <p:spPr>
          <a:xfrm>
            <a:off x="495300" y="34861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Python + FastAPI + HTTPX + ssl</a:t>
            </a:r>
            <a:endParaRPr sz="2400"/>
          </a:p>
        </p:txBody>
      </p:sp>
      <p:sp>
        <p:nvSpPr>
          <p:cNvPr id="154" name="Google Shape;154;p7"/>
          <p:cNvSpPr/>
          <p:nvPr/>
        </p:nvSpPr>
        <p:spPr>
          <a:xfrm>
            <a:off x="495300" y="38100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Typed scan APIs, bounded HTTP requests and TLS certificate inspection.</a:t>
            </a:r>
            <a:endParaRPr sz="2400"/>
          </a:p>
        </p:txBody>
      </p:sp>
      <p:sp>
        <p:nvSpPr>
          <p:cNvPr id="155" name="Google Shape;155;p7"/>
          <p:cNvSpPr/>
          <p:nvPr/>
        </p:nvSpPr>
        <p:spPr>
          <a:xfrm>
            <a:off x="495300" y="43243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PostgreSQL + migrations</a:t>
            </a:r>
            <a:endParaRPr sz="2400"/>
          </a:p>
        </p:txBody>
      </p:sp>
      <p:sp>
        <p:nvSpPr>
          <p:cNvPr id="156" name="Google Shape;156;p7"/>
          <p:cNvSpPr/>
          <p:nvPr/>
        </p:nvSpPr>
        <p:spPr>
          <a:xfrm>
            <a:off x="495300" y="46482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Relational history, constraints and service-owned schemas.</a:t>
            </a:r>
            <a:endParaRPr sz="2400"/>
          </a:p>
        </p:txBody>
      </p:sp>
      <p:sp>
        <p:nvSpPr>
          <p:cNvPr id="157" name="Google Shape;157;p7"/>
          <p:cNvSpPr/>
          <p:nvPr/>
        </p:nvSpPr>
        <p:spPr>
          <a:xfrm>
            <a:off x="495300" y="51625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Nginx + Docker Compose + OpenAPI 3.x</a:t>
            </a:r>
            <a:endParaRPr sz="2400"/>
          </a:p>
        </p:txBody>
      </p:sp>
      <p:sp>
        <p:nvSpPr>
          <p:cNvPr id="158" name="Google Shape;158;p7"/>
          <p:cNvSpPr/>
          <p:nvPr/>
        </p:nvSpPr>
        <p:spPr>
          <a:xfrm>
            <a:off x="495300" y="54864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Gateway routing, reproducible deployment and documented REST contracts.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714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495300" y="2857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125"/>
              <a:buFont typeface="Verdana"/>
              <a:buNone/>
            </a:pPr>
            <a:r>
              <a:rPr b="1" lang="en-US" sz="112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WS:// 04 / TECHNOLOGIES TO BE USED</a:t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95300" y="762000"/>
            <a:ext cx="11144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Public REST contract</a:t>
            </a:r>
            <a:endParaRPr/>
          </a:p>
        </p:txBody>
      </p:sp>
      <p:cxnSp>
        <p:nvCxnSpPr>
          <p:cNvPr id="166" name="Google Shape;166;p8"/>
          <p:cNvCxnSpPr/>
          <p:nvPr/>
        </p:nvCxnSpPr>
        <p:spPr>
          <a:xfrm>
            <a:off x="495300" y="6238875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3945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8"/>
          <p:cNvSpPr/>
          <p:nvPr/>
        </p:nvSpPr>
        <p:spPr>
          <a:xfrm>
            <a:off x="495300" y="6419850"/>
            <a:ext cx="95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900"/>
              <a:buFont typeface="Verdana"/>
              <a:buNone/>
            </a:pPr>
            <a:r>
              <a:rPr b="0" lang="en-US" sz="9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FIRST SUBMISSION   /   27 OCT 2026</a:t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11144250" y="63817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08</a:t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495300" y="18097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POST /api/v1/auth/register    POST /api/v1/auth/login</a:t>
            </a:r>
            <a:endParaRPr sz="2400"/>
          </a:p>
        </p:txBody>
      </p:sp>
      <p:sp>
        <p:nvSpPr>
          <p:cNvPr id="170" name="Google Shape;170;p8"/>
          <p:cNvSpPr/>
          <p:nvPr/>
        </p:nvSpPr>
        <p:spPr>
          <a:xfrm>
            <a:off x="495300" y="21336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Create account or establish a session. Secure HttpOnly cookie and CSRF protection.</a:t>
            </a:r>
            <a:endParaRPr sz="2400"/>
          </a:p>
        </p:txBody>
      </p:sp>
      <p:sp>
        <p:nvSpPr>
          <p:cNvPr id="171" name="Google Shape;171;p8"/>
          <p:cNvSpPr/>
          <p:nvPr/>
        </p:nvSpPr>
        <p:spPr>
          <a:xfrm>
            <a:off x="495300" y="26479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GET, POST /api/v1/websites</a:t>
            </a:r>
            <a:endParaRPr sz="2400"/>
          </a:p>
        </p:txBody>
      </p:sp>
      <p:sp>
        <p:nvSpPr>
          <p:cNvPr id="172" name="Google Shape;172;p8"/>
          <p:cNvSpPr/>
          <p:nvPr/>
        </p:nvSpPr>
        <p:spPr>
          <a:xfrm>
            <a:off x="495300" y="29718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List owned websites or register a domain. POST returns a DNS TXT challenge.</a:t>
            </a:r>
            <a:endParaRPr sz="2400"/>
          </a:p>
        </p:txBody>
      </p:sp>
      <p:sp>
        <p:nvSpPr>
          <p:cNvPr id="173" name="Google Shape;173;p8"/>
          <p:cNvSpPr/>
          <p:nvPr/>
        </p:nvSpPr>
        <p:spPr>
          <a:xfrm>
            <a:off x="495300" y="34861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POST /api/v1/websites/{id}/verify</a:t>
            </a:r>
            <a:endParaRPr sz="2400"/>
          </a:p>
        </p:txBody>
      </p:sp>
      <p:sp>
        <p:nvSpPr>
          <p:cNvPr id="174" name="Google Shape;174;p8"/>
          <p:cNvSpPr/>
          <p:nvPr/>
        </p:nvSpPr>
        <p:spPr>
          <a:xfrm>
            <a:off x="495300" y="38100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Resolve the challenge. Record verification time and expiry.</a:t>
            </a:r>
            <a:endParaRPr sz="2400"/>
          </a:p>
        </p:txBody>
      </p:sp>
      <p:sp>
        <p:nvSpPr>
          <p:cNvPr id="175" name="Google Shape;175;p8"/>
          <p:cNvSpPr/>
          <p:nvPr/>
        </p:nvSpPr>
        <p:spPr>
          <a:xfrm>
            <a:off x="495300" y="43243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POST /api/v1/websites/{id}/scans</a:t>
            </a:r>
            <a:endParaRPr sz="2400"/>
          </a:p>
        </p:txBody>
      </p:sp>
      <p:sp>
        <p:nvSpPr>
          <p:cNvPr id="176" name="Google Shape;176;p8"/>
          <p:cNvSpPr/>
          <p:nvPr/>
        </p:nvSpPr>
        <p:spPr>
          <a:xfrm>
            <a:off x="495300" y="46482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Require ownership and valid verification. Return 202 Accepted and scan ID.</a:t>
            </a:r>
            <a:endParaRPr sz="2400"/>
          </a:p>
        </p:txBody>
      </p:sp>
      <p:sp>
        <p:nvSpPr>
          <p:cNvPr id="177" name="Google Shape;177;p8"/>
          <p:cNvSpPr/>
          <p:nvPr/>
        </p:nvSpPr>
        <p:spPr>
          <a:xfrm>
            <a:off x="495300" y="51625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GET /api/v1/scans/{id}    GET /api/v1/scans/{id}/findings</a:t>
            </a:r>
            <a:endParaRPr sz="2400"/>
          </a:p>
        </p:txBody>
      </p:sp>
      <p:sp>
        <p:nvSpPr>
          <p:cNvPr id="178" name="Google Shape;178;p8"/>
          <p:cNvSpPr/>
          <p:nvPr/>
        </p:nvSpPr>
        <p:spPr>
          <a:xfrm>
            <a:off x="495300" y="548640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Return status, summary or paginated findings. Scope access to the current user.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714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495300" y="2857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125"/>
              <a:buFont typeface="Verdana"/>
              <a:buNone/>
            </a:pPr>
            <a:r>
              <a:rPr b="1" lang="en-US" sz="112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WS:// 04 / TECHNOLOGIES TO BE USED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495300" y="762000"/>
            <a:ext cx="11144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Service contracts and errors</a:t>
            </a:r>
            <a:endParaRPr/>
          </a:p>
        </p:txBody>
      </p:sp>
      <p:cxnSp>
        <p:nvCxnSpPr>
          <p:cNvPr id="186" name="Google Shape;186;p9"/>
          <p:cNvCxnSpPr/>
          <p:nvPr/>
        </p:nvCxnSpPr>
        <p:spPr>
          <a:xfrm>
            <a:off x="495300" y="6238875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3945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9"/>
          <p:cNvSpPr/>
          <p:nvPr/>
        </p:nvSpPr>
        <p:spPr>
          <a:xfrm>
            <a:off x="495300" y="6419850"/>
            <a:ext cx="95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900"/>
              <a:buFont typeface="Verdana"/>
              <a:buNone/>
            </a:pPr>
            <a:r>
              <a:rPr b="0" lang="en-US" sz="9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FIRST SUBMISSION   /   27 OCT 2026</a:t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11144250" y="63817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09</a:t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495300" y="1952625"/>
            <a:ext cx="5238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210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Internal worker API</a:t>
            </a:r>
            <a:endParaRPr sz="2400"/>
          </a:p>
        </p:txBody>
      </p:sp>
      <p:sp>
        <p:nvSpPr>
          <p:cNvPr id="190" name="Google Shape;190;p9"/>
          <p:cNvSpPr/>
          <p:nvPr/>
        </p:nvSpPr>
        <p:spPr>
          <a:xfrm>
            <a:off x="495300" y="2524125"/>
            <a:ext cx="523875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2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POST /internal/v1/jobs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2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{scanId, verifiedUrl, policyVersion}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t/>
            </a:r>
            <a:endParaRPr b="0" sz="22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2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GET /internal/v1/jobs/{scanId}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2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{status, startedAt, finishedAt}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t/>
            </a:r>
            <a:endParaRPr b="0" sz="22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2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Service credential + private network</a:t>
            </a:r>
            <a:endParaRPr sz="2200"/>
          </a:p>
        </p:txBody>
      </p:sp>
      <p:sp>
        <p:nvSpPr>
          <p:cNvPr id="191" name="Google Shape;191;p9"/>
          <p:cNvSpPr/>
          <p:nvPr/>
        </p:nvSpPr>
        <p:spPr>
          <a:xfrm>
            <a:off x="6667500" y="1952625"/>
            <a:ext cx="5000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210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Contract conventions</a:t>
            </a:r>
            <a:endParaRPr sz="2400"/>
          </a:p>
        </p:txBody>
      </p:sp>
      <p:sp>
        <p:nvSpPr>
          <p:cNvPr id="192" name="Google Shape;192;p9"/>
          <p:cNvSpPr/>
          <p:nvPr/>
        </p:nvSpPr>
        <p:spPr>
          <a:xfrm>
            <a:off x="6667500" y="2524125"/>
            <a:ext cx="5000625" cy="2762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2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UUID identifiers and UTC timestamps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2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Pagination: limit + cursor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2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Errors: code, message, requestId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t/>
            </a:r>
            <a:endParaRPr b="0" sz="22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2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401 unauthenticated / 403 denied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2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409 duplicate / 422 invalid input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2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503 worker unavailable</a:t>
            </a:r>
            <a:endParaRPr sz="2200"/>
          </a:p>
        </p:txBody>
      </p:sp>
      <p:sp>
        <p:nvSpPr>
          <p:cNvPr id="193" name="Google Shape;193;p9"/>
          <p:cNvSpPr/>
          <p:nvPr/>
        </p:nvSpPr>
        <p:spPr>
          <a:xfrm>
            <a:off x="495300" y="5572125"/>
            <a:ext cx="11096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1575"/>
              <a:buFont typeface="Verdana"/>
              <a:buNone/>
            </a:pPr>
            <a:r>
              <a:rPr b="0" lang="en-US" sz="1575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OpenAPI 3.x covers public and internal APIs. Express has no direct access to worker-owned result tables.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714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Google Shape;199;p10"/>
          <p:cNvCxnSpPr>
            <a:stCxn id="200" idx="2"/>
            <a:endCxn id="201" idx="0"/>
          </p:cNvCxnSpPr>
          <p:nvPr/>
        </p:nvCxnSpPr>
        <p:spPr>
          <a:xfrm rot="5400000">
            <a:off x="9465375" y="4083900"/>
            <a:ext cx="476400" cy="690600"/>
          </a:xfrm>
          <a:prstGeom prst="bentConnector3">
            <a:avLst>
              <a:gd fmla="val 49984" name="adj1"/>
            </a:avLst>
          </a:prstGeom>
          <a:noFill/>
          <a:ln cap="flat" cmpd="sng" w="19050">
            <a:solidFill>
              <a:srgbClr val="C0FF39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02" name="Google Shape;202;p10"/>
          <p:cNvCxnSpPr>
            <a:stCxn id="203" idx="3"/>
            <a:endCxn id="200" idx="1"/>
          </p:cNvCxnSpPr>
          <p:nvPr/>
        </p:nvCxnSpPr>
        <p:spPr>
          <a:xfrm>
            <a:off x="7477125" y="3095625"/>
            <a:ext cx="952500" cy="0"/>
          </a:xfrm>
          <a:prstGeom prst="straightConnector1">
            <a:avLst/>
          </a:prstGeom>
          <a:noFill/>
          <a:ln cap="flat" cmpd="sng" w="19050">
            <a:solidFill>
              <a:srgbClr val="C0FF39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04" name="Google Shape;204;p10"/>
          <p:cNvCxnSpPr>
            <a:stCxn id="205" idx="3"/>
            <a:endCxn id="203" idx="1"/>
          </p:cNvCxnSpPr>
          <p:nvPr/>
        </p:nvCxnSpPr>
        <p:spPr>
          <a:xfrm>
            <a:off x="2971800" y="3095625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C0FF39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06" name="Google Shape;206;p10"/>
          <p:cNvSpPr/>
          <p:nvPr/>
        </p:nvSpPr>
        <p:spPr>
          <a:xfrm>
            <a:off x="495300" y="2857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125"/>
              <a:buFont typeface="Verdana"/>
              <a:buNone/>
            </a:pPr>
            <a:r>
              <a:rPr b="1" lang="en-US" sz="112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WS:// 05 / DATA MODEL AND EXTERNAL DATA</a:t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495300" y="762000"/>
            <a:ext cx="11144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Initial entity relationship model</a:t>
            </a:r>
            <a:endParaRPr/>
          </a:p>
        </p:txBody>
      </p:sp>
      <p:cxnSp>
        <p:nvCxnSpPr>
          <p:cNvPr id="208" name="Google Shape;208;p10"/>
          <p:cNvCxnSpPr/>
          <p:nvPr/>
        </p:nvCxnSpPr>
        <p:spPr>
          <a:xfrm>
            <a:off x="495300" y="6238875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3945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10"/>
          <p:cNvSpPr/>
          <p:nvPr/>
        </p:nvSpPr>
        <p:spPr>
          <a:xfrm>
            <a:off x="495300" y="6419850"/>
            <a:ext cx="95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900"/>
              <a:buFont typeface="Verdana"/>
              <a:buNone/>
            </a:pPr>
            <a:r>
              <a:rPr b="0" lang="en-US" sz="9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FIRST SUBMISSION   /   27 OCT 2026</a:t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11144250" y="63817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495300" y="2000250"/>
            <a:ext cx="2476500" cy="219075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647700" y="2143125"/>
            <a:ext cx="21717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USER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id PK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email UNIQUE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password_hash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created_at</a:t>
            </a:r>
            <a:endParaRPr sz="2000"/>
          </a:p>
        </p:txBody>
      </p:sp>
      <p:sp>
        <p:nvSpPr>
          <p:cNvPr id="203" name="Google Shape;203;p10"/>
          <p:cNvSpPr/>
          <p:nvPr/>
        </p:nvSpPr>
        <p:spPr>
          <a:xfrm>
            <a:off x="3810000" y="2000250"/>
            <a:ext cx="3667125" cy="219075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3962400" y="2143125"/>
            <a:ext cx="3362325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WEBSITE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id PK / user_id FK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hostname UNIQUE/user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verified_at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verification_expires_at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8429625" y="2000250"/>
            <a:ext cx="3238500" cy="219075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8582025" y="2143125"/>
            <a:ext cx="29337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SCAN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id PK / website_id ref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status / policy_version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started_at / finished_at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summary JSONB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3124200" y="2571750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1 : N</a:t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7639050" y="2571750"/>
            <a:ext cx="714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1 : N</a:t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7048500" y="4667250"/>
            <a:ext cx="4619700" cy="142470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7200888" y="4786275"/>
            <a:ext cx="4314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FINDING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id PK / scan_id FK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rule_id / severity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evidence JSONB / remediation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0477500" y="4286250"/>
            <a:ext cx="95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275"/>
              <a:buFont typeface="Verdana"/>
              <a:buNone/>
            </a:pPr>
            <a:r>
              <a:rPr b="0" lang="en-US" sz="127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1 : N</a:t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495300" y="4667250"/>
            <a:ext cx="590550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1650"/>
              <a:buFont typeface="Verdana"/>
              <a:buNone/>
            </a:pPr>
            <a:r>
              <a:rPr b="0" lang="en-US" sz="165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accounts schema: USER, WEBSITE, VERIFICATION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1650"/>
              <a:buFont typeface="Verdana"/>
              <a:buNone/>
            </a:pPr>
            <a:r>
              <a:rPr b="0" lang="en-US" sz="165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scanner schema: SCAN, FINDING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1650"/>
              <a:buFont typeface="Verdana"/>
              <a:buNone/>
            </a:pPr>
            <a:r>
              <a:rPr b="0" lang="en-US" sz="165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Cross-service website ID is a logical reference.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714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/>
          <p:nvPr/>
        </p:nvSpPr>
        <p:spPr>
          <a:xfrm>
            <a:off x="495300" y="2857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125"/>
              <a:buFont typeface="Verdana"/>
              <a:buNone/>
            </a:pPr>
            <a:r>
              <a:rPr b="1" lang="en-US" sz="112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WS:// 05 / DATA MODEL AND EXTERNAL DATA</a:t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495300" y="762000"/>
            <a:ext cx="11144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Data lifecycle and enrichment</a:t>
            </a:r>
            <a:endParaRPr/>
          </a:p>
        </p:txBody>
      </p:sp>
      <p:cxnSp>
        <p:nvCxnSpPr>
          <p:cNvPr id="226" name="Google Shape;226;p11"/>
          <p:cNvCxnSpPr/>
          <p:nvPr/>
        </p:nvCxnSpPr>
        <p:spPr>
          <a:xfrm>
            <a:off x="495300" y="6238875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3945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11"/>
          <p:cNvSpPr/>
          <p:nvPr/>
        </p:nvSpPr>
        <p:spPr>
          <a:xfrm>
            <a:off x="495300" y="6419850"/>
            <a:ext cx="95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900"/>
              <a:buFont typeface="Verdana"/>
              <a:buNone/>
            </a:pPr>
            <a:r>
              <a:rPr b="0" lang="en-US" sz="9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FIRST SUBMISSION   /   27 OCT 2026</a:t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11144250" y="63817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495300" y="1762125"/>
            <a:ext cx="1120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0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Domain verification</a:t>
            </a:r>
            <a:endParaRPr sz="2000"/>
          </a:p>
        </p:txBody>
      </p:sp>
      <p:sp>
        <p:nvSpPr>
          <p:cNvPr id="230" name="Google Shape;230;p11"/>
          <p:cNvSpPr/>
          <p:nvPr/>
        </p:nvSpPr>
        <p:spPr>
          <a:xfrm>
            <a:off x="495300" y="2085975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VERIFICATION: id, website_id, challenge_hash, expires_at, verified_at. One website has many challenges.</a:t>
            </a:r>
            <a:endParaRPr sz="2000"/>
          </a:p>
        </p:txBody>
      </p:sp>
      <p:sp>
        <p:nvSpPr>
          <p:cNvPr id="231" name="Google Shape;231;p11"/>
          <p:cNvSpPr/>
          <p:nvPr/>
        </p:nvSpPr>
        <p:spPr>
          <a:xfrm>
            <a:off x="495300" y="2619375"/>
            <a:ext cx="1120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0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Observed website data</a:t>
            </a:r>
            <a:endParaRPr sz="2000"/>
          </a:p>
        </p:txBody>
      </p:sp>
      <p:sp>
        <p:nvSpPr>
          <p:cNvPr id="232" name="Google Shape;232;p11"/>
          <p:cNvSpPr/>
          <p:nvPr/>
        </p:nvSpPr>
        <p:spPr>
          <a:xfrm>
            <a:off x="495300" y="2943225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Worker retrieves public HTTP responses and certificate metadata from the verified target.</a:t>
            </a:r>
            <a:endParaRPr sz="2000"/>
          </a:p>
        </p:txBody>
      </p:sp>
      <p:sp>
        <p:nvSpPr>
          <p:cNvPr id="233" name="Google Shape;233;p11"/>
          <p:cNvSpPr/>
          <p:nvPr/>
        </p:nvSpPr>
        <p:spPr>
          <a:xfrm>
            <a:off x="495300" y="3476625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0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Evidence</a:t>
            </a:r>
            <a:endParaRPr sz="2000"/>
          </a:p>
        </p:txBody>
      </p:sp>
      <p:sp>
        <p:nvSpPr>
          <p:cNvPr id="234" name="Google Shape;234;p11"/>
          <p:cNvSpPr/>
          <p:nvPr/>
        </p:nvSpPr>
        <p:spPr>
          <a:xfrm>
            <a:off x="495300" y="3800475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Store selected headers and cookie attributes. Discard cookie values and response bodies.</a:t>
            </a:r>
            <a:endParaRPr sz="2000"/>
          </a:p>
        </p:txBody>
      </p:sp>
      <p:sp>
        <p:nvSpPr>
          <p:cNvPr id="235" name="Google Shape;235;p11"/>
          <p:cNvSpPr/>
          <p:nvPr/>
        </p:nvSpPr>
        <p:spPr>
          <a:xfrm>
            <a:off x="495300" y="4333875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0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Optional reference catalog</a:t>
            </a:r>
            <a:endParaRPr sz="2000"/>
          </a:p>
        </p:txBody>
      </p:sp>
      <p:sp>
        <p:nvSpPr>
          <p:cNvPr id="236" name="Google Shape;236;p11"/>
          <p:cNvSpPr/>
          <p:nvPr/>
        </p:nvSpPr>
        <p:spPr>
          <a:xfrm>
            <a:off x="495300" y="4657725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Curated OWASP links map rule_id to guidance. Store source URL, revision and retrieval date.</a:t>
            </a:r>
            <a:endParaRPr sz="2000"/>
          </a:p>
        </p:txBody>
      </p:sp>
      <p:sp>
        <p:nvSpPr>
          <p:cNvPr id="237" name="Google Shape;237;p11"/>
          <p:cNvSpPr/>
          <p:nvPr/>
        </p:nvSpPr>
        <p:spPr>
          <a:xfrm>
            <a:off x="495300" y="5191125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0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Consistency and ownership</a:t>
            </a:r>
            <a:endParaRPr sz="2000"/>
          </a:p>
        </p:txBody>
      </p:sp>
      <p:sp>
        <p:nvSpPr>
          <p:cNvPr id="238" name="Google Shape;238;p11"/>
          <p:cNvSpPr/>
          <p:nvPr/>
        </p:nvSpPr>
        <p:spPr>
          <a:xfrm>
            <a:off x="495300" y="5514975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Each service owns its schema and migrations. Worker retains website IDs without cross-schema foreign keys.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714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" name="Google Shape;244;p12"/>
          <p:cNvCxnSpPr>
            <a:stCxn id="245" idx="2"/>
            <a:endCxn id="246" idx="0"/>
          </p:cNvCxnSpPr>
          <p:nvPr/>
        </p:nvCxnSpPr>
        <p:spPr>
          <a:xfrm>
            <a:off x="9739313" y="2857500"/>
            <a:ext cx="0" cy="1428900"/>
          </a:xfrm>
          <a:prstGeom prst="straightConnector1">
            <a:avLst/>
          </a:prstGeom>
          <a:noFill/>
          <a:ln cap="flat" cmpd="sng" w="19050">
            <a:solidFill>
              <a:srgbClr val="C0FF39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47" name="Google Shape;247;p12"/>
          <p:cNvCxnSpPr>
            <a:stCxn id="248" idx="2"/>
            <a:endCxn id="249" idx="0"/>
          </p:cNvCxnSpPr>
          <p:nvPr/>
        </p:nvCxnSpPr>
        <p:spPr>
          <a:xfrm flipH="1" rot="-5400000">
            <a:off x="4524600" y="3571650"/>
            <a:ext cx="1428900" cy="600"/>
          </a:xfrm>
          <a:prstGeom prst="bentConnector4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C0FF39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50" name="Google Shape;250;p12"/>
          <p:cNvCxnSpPr>
            <a:stCxn id="248" idx="3"/>
            <a:endCxn id="245" idx="1"/>
          </p:cNvCxnSpPr>
          <p:nvPr/>
        </p:nvCxnSpPr>
        <p:spPr>
          <a:xfrm>
            <a:off x="6858000" y="2476500"/>
            <a:ext cx="952500" cy="0"/>
          </a:xfrm>
          <a:prstGeom prst="straightConnector1">
            <a:avLst/>
          </a:prstGeom>
          <a:noFill/>
          <a:ln cap="flat" cmpd="sng" w="19050">
            <a:solidFill>
              <a:srgbClr val="C0FF39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51" name="Google Shape;251;p12"/>
          <p:cNvCxnSpPr>
            <a:stCxn id="252" idx="3"/>
            <a:endCxn id="248" idx="1"/>
          </p:cNvCxnSpPr>
          <p:nvPr/>
        </p:nvCxnSpPr>
        <p:spPr>
          <a:xfrm>
            <a:off x="2876550" y="2476500"/>
            <a:ext cx="743100" cy="0"/>
          </a:xfrm>
          <a:prstGeom prst="straightConnector1">
            <a:avLst/>
          </a:prstGeom>
          <a:noFill/>
          <a:ln cap="flat" cmpd="sng" w="19050">
            <a:solidFill>
              <a:srgbClr val="C0FF39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53" name="Google Shape;253;p12"/>
          <p:cNvSpPr/>
          <p:nvPr/>
        </p:nvSpPr>
        <p:spPr>
          <a:xfrm>
            <a:off x="495300" y="2857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125"/>
              <a:buFont typeface="Verdana"/>
              <a:buNone/>
            </a:pPr>
            <a:r>
              <a:rPr b="1" lang="en-US" sz="112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WS:// 06 / USER INTERFACE SKETCH</a:t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495300" y="762000"/>
            <a:ext cx="11144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Angular SPA navigation</a:t>
            </a:r>
            <a:endParaRPr/>
          </a:p>
        </p:txBody>
      </p:sp>
      <p:cxnSp>
        <p:nvCxnSpPr>
          <p:cNvPr id="255" name="Google Shape;255;p12"/>
          <p:cNvCxnSpPr/>
          <p:nvPr/>
        </p:nvCxnSpPr>
        <p:spPr>
          <a:xfrm>
            <a:off x="495300" y="6238875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3945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2"/>
          <p:cNvSpPr/>
          <p:nvPr/>
        </p:nvSpPr>
        <p:spPr>
          <a:xfrm>
            <a:off x="495300" y="6419850"/>
            <a:ext cx="95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900"/>
              <a:buFont typeface="Verdana"/>
              <a:buNone/>
            </a:pPr>
            <a:r>
              <a:rPr b="0" lang="en-US" sz="9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FIRST SUBMISSION   /   27 OCT 2026</a:t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11144250" y="63817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495300" y="2095500"/>
            <a:ext cx="2381250" cy="76200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647700" y="2238375"/>
            <a:ext cx="2076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SIGN IN</a:t>
            </a:r>
            <a:endParaRPr sz="2400"/>
          </a:p>
        </p:txBody>
      </p:sp>
      <p:sp>
        <p:nvSpPr>
          <p:cNvPr id="248" name="Google Shape;248;p12"/>
          <p:cNvSpPr/>
          <p:nvPr/>
        </p:nvSpPr>
        <p:spPr>
          <a:xfrm>
            <a:off x="3619500" y="2095500"/>
            <a:ext cx="3238500" cy="76200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3771900" y="2238375"/>
            <a:ext cx="29337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75"/>
              <a:buFont typeface="Verdana"/>
              <a:buNone/>
            </a:pPr>
            <a:r>
              <a:rPr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WEBSITE LIST</a:t>
            </a:r>
            <a:endParaRPr sz="24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7810500" y="2095500"/>
            <a:ext cx="3857625" cy="76200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7962900" y="2238375"/>
            <a:ext cx="35528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75"/>
              <a:buFont typeface="Verdana"/>
              <a:buNone/>
            </a:pPr>
            <a:r>
              <a:rPr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WEBSITE DETAIL</a:t>
            </a:r>
            <a:endParaRPr sz="24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3619500" y="4286250"/>
            <a:ext cx="3238500" cy="76200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3771900" y="4429125"/>
            <a:ext cx="29337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75"/>
              <a:buFont typeface="Verdana"/>
              <a:buNone/>
            </a:pPr>
            <a:r>
              <a:rPr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VERIFY DOMAIN</a:t>
            </a:r>
            <a:endParaRPr sz="24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7810500" y="4286250"/>
            <a:ext cx="3857625" cy="76200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7962900" y="4429125"/>
            <a:ext cx="35528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75"/>
              <a:buFont typeface="Verdana"/>
              <a:buNone/>
            </a:pPr>
            <a:r>
              <a:rPr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SCAN REPORT</a:t>
            </a:r>
            <a:endParaRPr sz="24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495300" y="3381375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1725"/>
              <a:buFont typeface="Verdana"/>
              <a:buNone/>
            </a:pPr>
            <a:r>
              <a:rPr b="0" lang="en-US" sz="1725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Add website / copy DNS TXT / verify</a:t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495300" y="55245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rPr b="0" lang="en-US" sz="18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SPA rationale: shared session and filters, smooth navigation and polling without full page reloads.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714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/>
          <p:nvPr/>
        </p:nvSpPr>
        <p:spPr>
          <a:xfrm>
            <a:off x="495300" y="2857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125"/>
              <a:buFont typeface="Verdana"/>
              <a:buNone/>
            </a:pPr>
            <a:r>
              <a:rPr b="1" lang="en-US" sz="112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WS:// 06 / USER INTERFACE SKETCH</a:t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495300" y="762000"/>
            <a:ext cx="11144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Wireframe: website dashboard</a:t>
            </a:r>
            <a:endParaRPr/>
          </a:p>
        </p:txBody>
      </p:sp>
      <p:cxnSp>
        <p:nvCxnSpPr>
          <p:cNvPr id="272" name="Google Shape;272;p13"/>
          <p:cNvCxnSpPr/>
          <p:nvPr/>
        </p:nvCxnSpPr>
        <p:spPr>
          <a:xfrm>
            <a:off x="495300" y="6238875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3945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13"/>
          <p:cNvSpPr/>
          <p:nvPr/>
        </p:nvSpPr>
        <p:spPr>
          <a:xfrm>
            <a:off x="495300" y="6419850"/>
            <a:ext cx="95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900"/>
              <a:buFont typeface="Verdana"/>
              <a:buNone/>
            </a:pPr>
            <a:r>
              <a:rPr b="0" lang="en-US" sz="9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FIRST SUBMISSION   /   27 OCT 2026</a:t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11144250" y="63817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495300" y="1809750"/>
            <a:ext cx="11201400" cy="619125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76" name="Google Shape;276;p13"/>
          <p:cNvSpPr/>
          <p:nvPr/>
        </p:nvSpPr>
        <p:spPr>
          <a:xfrm>
            <a:off x="647700" y="1952625"/>
            <a:ext cx="108966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WebSentinel                    	 		Websites        							Account</a:t>
            </a:r>
            <a:endParaRPr sz="2400"/>
          </a:p>
        </p:txBody>
      </p:sp>
      <p:sp>
        <p:nvSpPr>
          <p:cNvPr id="277" name="Google Shape;277;p13"/>
          <p:cNvSpPr/>
          <p:nvPr/>
        </p:nvSpPr>
        <p:spPr>
          <a:xfrm>
            <a:off x="495300" y="2667000"/>
            <a:ext cx="11201400" cy="66675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78" name="Google Shape;278;p13"/>
          <p:cNvSpPr/>
          <p:nvPr/>
        </p:nvSpPr>
        <p:spPr>
          <a:xfrm>
            <a:off x="647700" y="2809875"/>
            <a:ext cx="10896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72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Websites                                     											[ Add website ]</a:t>
            </a:r>
            <a:endParaRPr sz="2400"/>
          </a:p>
        </p:txBody>
      </p:sp>
      <p:sp>
        <p:nvSpPr>
          <p:cNvPr id="279" name="Google Shape;279;p13"/>
          <p:cNvSpPr/>
          <p:nvPr/>
        </p:nvSpPr>
        <p:spPr>
          <a:xfrm>
            <a:off x="495300" y="3571875"/>
            <a:ext cx="11201400" cy="138120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80" name="Google Shape;280;p13"/>
          <p:cNvSpPr/>
          <p:nvPr/>
        </p:nvSpPr>
        <p:spPr>
          <a:xfrm>
            <a:off x="1333500" y="3738600"/>
            <a:ext cx="95250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DOMAIN                 		CONTROL          LAST SCAN         ACTION</a:t>
            </a:r>
            <a:endParaRPr sz="24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example.com            		Verified         		27 Oct 2026       	[ View ]</a:t>
            </a:r>
            <a:endParaRPr sz="24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shop.example.org       		Pending          		No scans          	[ Verify ]</a:t>
            </a:r>
            <a:endParaRPr sz="2400"/>
          </a:p>
        </p:txBody>
      </p:sp>
      <p:sp>
        <p:nvSpPr>
          <p:cNvPr id="281" name="Google Shape;281;p13"/>
          <p:cNvSpPr/>
          <p:nvPr/>
        </p:nvSpPr>
        <p:spPr>
          <a:xfrm>
            <a:off x="495300" y="5381625"/>
            <a:ext cx="10953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1800"/>
              <a:buFont typeface="Verdana"/>
              <a:buNone/>
            </a:pPr>
            <a:r>
              <a:rPr b="0" lang="en-US" sz="18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Add website opens a form for the hostname. Verification shows the TXT record, its expiry and a retry action.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714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"/>
          <p:cNvSpPr/>
          <p:nvPr/>
        </p:nvSpPr>
        <p:spPr>
          <a:xfrm>
            <a:off x="495300" y="2857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125"/>
              <a:buFont typeface="Verdana"/>
              <a:buNone/>
            </a:pPr>
            <a:r>
              <a:rPr b="1" lang="en-US" sz="112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WS:// 06 / USER INTERFACE SKETCH</a:t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495300" y="762000"/>
            <a:ext cx="11144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3000"/>
              <a:buFont typeface="Verdana"/>
              <a:buNone/>
            </a:pPr>
            <a:r>
              <a:rPr b="1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Wireframe: scan report and evidence</a:t>
            </a:r>
            <a:endParaRPr sz="2000"/>
          </a:p>
        </p:txBody>
      </p:sp>
      <p:cxnSp>
        <p:nvCxnSpPr>
          <p:cNvPr id="289" name="Google Shape;289;p14"/>
          <p:cNvCxnSpPr/>
          <p:nvPr/>
        </p:nvCxnSpPr>
        <p:spPr>
          <a:xfrm>
            <a:off x="495300" y="6238875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3945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4"/>
          <p:cNvSpPr/>
          <p:nvPr/>
        </p:nvSpPr>
        <p:spPr>
          <a:xfrm>
            <a:off x="495300" y="6419850"/>
            <a:ext cx="95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900"/>
              <a:buFont typeface="Verdana"/>
              <a:buNone/>
            </a:pPr>
            <a:r>
              <a:rPr b="0" lang="en-US" sz="9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FIRST SUBMISSION   /   27 OCT 2026</a:t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11144250" y="63817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495300" y="1809750"/>
            <a:ext cx="11201400" cy="619125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93" name="Google Shape;293;p14"/>
          <p:cNvSpPr/>
          <p:nvPr/>
        </p:nvSpPr>
        <p:spPr>
          <a:xfrm>
            <a:off x="647700" y="1952625"/>
            <a:ext cx="108966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72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example.com        			Verified        		[ Run scan ]        		[ History ]</a:t>
            </a:r>
            <a:endParaRPr sz="2400"/>
          </a:p>
        </p:txBody>
      </p:sp>
      <p:sp>
        <p:nvSpPr>
          <p:cNvPr id="294" name="Google Shape;294;p14"/>
          <p:cNvSpPr/>
          <p:nvPr/>
        </p:nvSpPr>
        <p:spPr>
          <a:xfrm>
            <a:off x="495300" y="2667000"/>
            <a:ext cx="11201400" cy="619125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95" name="Google Shape;295;p14"/>
          <p:cNvSpPr/>
          <p:nvPr/>
        </p:nvSpPr>
        <p:spPr>
          <a:xfrm>
            <a:off x="647700" y="2809875"/>
            <a:ext cx="108966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Scan completed       2 warnings       4 checks passed</a:t>
            </a:r>
            <a:endParaRPr sz="2400"/>
          </a:p>
        </p:txBody>
      </p:sp>
      <p:sp>
        <p:nvSpPr>
          <p:cNvPr id="296" name="Google Shape;296;p14"/>
          <p:cNvSpPr/>
          <p:nvPr/>
        </p:nvSpPr>
        <p:spPr>
          <a:xfrm>
            <a:off x="495300" y="3524250"/>
            <a:ext cx="4476750" cy="1857375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97" name="Google Shape;297;p14"/>
          <p:cNvSpPr/>
          <p:nvPr/>
        </p:nvSpPr>
        <p:spPr>
          <a:xfrm>
            <a:off x="647700" y="3667125"/>
            <a:ext cx="417195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725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FINDINGS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725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[Medium] Missing CSP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725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[Low] Cookie flag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725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[Pass] Certificate valid</a:t>
            </a:r>
            <a:endParaRPr sz="2000"/>
          </a:p>
        </p:txBody>
      </p:sp>
      <p:sp>
        <p:nvSpPr>
          <p:cNvPr id="298" name="Google Shape;298;p14"/>
          <p:cNvSpPr/>
          <p:nvPr/>
        </p:nvSpPr>
        <p:spPr>
          <a:xfrm>
            <a:off x="5381625" y="3524250"/>
            <a:ext cx="6315075" cy="1857375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99" name="Google Shape;299;p14"/>
          <p:cNvSpPr/>
          <p:nvPr/>
        </p:nvSpPr>
        <p:spPr>
          <a:xfrm>
            <a:off x="5534025" y="3667125"/>
            <a:ext cx="6010275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SELECTED FINDING: Missing CSP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Evidence: header absent in response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Meaning: browser policy is unspecified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Action: define and test a CSP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650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[ Reference ]   [ Compare previous ]</a:t>
            </a:r>
            <a:endParaRPr sz="2000"/>
          </a:p>
        </p:txBody>
      </p:sp>
      <p:sp>
        <p:nvSpPr>
          <p:cNvPr id="300" name="Google Shape;300;p14"/>
          <p:cNvSpPr/>
          <p:nvPr/>
        </p:nvSpPr>
        <p:spPr>
          <a:xfrm>
            <a:off x="495300" y="5667375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1500"/>
              <a:buFont typeface="Verdana"/>
              <a:buNone/>
            </a:pPr>
            <a:r>
              <a:rPr b="0" lang="en-US" sz="15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Illustrative data. Pending, running, failed and empty states keep the same screen structure.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714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6" name="Google Shape;306;p15"/>
          <p:cNvCxnSpPr>
            <a:stCxn id="307" idx="3"/>
            <a:endCxn id="308" idx="1"/>
          </p:cNvCxnSpPr>
          <p:nvPr/>
        </p:nvCxnSpPr>
        <p:spPr>
          <a:xfrm>
            <a:off x="6715125" y="2452650"/>
            <a:ext cx="809700" cy="0"/>
          </a:xfrm>
          <a:prstGeom prst="straightConnector1">
            <a:avLst/>
          </a:prstGeom>
          <a:noFill/>
          <a:ln cap="flat" cmpd="sng" w="19050">
            <a:solidFill>
              <a:srgbClr val="C0FF39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09" name="Google Shape;309;p15"/>
          <p:cNvCxnSpPr>
            <a:stCxn id="310" idx="3"/>
            <a:endCxn id="307" idx="1"/>
          </p:cNvCxnSpPr>
          <p:nvPr/>
        </p:nvCxnSpPr>
        <p:spPr>
          <a:xfrm>
            <a:off x="2686200" y="2452650"/>
            <a:ext cx="790500" cy="0"/>
          </a:xfrm>
          <a:prstGeom prst="straightConnector1">
            <a:avLst/>
          </a:prstGeom>
          <a:noFill/>
          <a:ln cap="flat" cmpd="sng" w="19050">
            <a:solidFill>
              <a:srgbClr val="C0FF39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11" name="Google Shape;311;p15"/>
          <p:cNvSpPr/>
          <p:nvPr/>
        </p:nvSpPr>
        <p:spPr>
          <a:xfrm>
            <a:off x="495300" y="2857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125"/>
              <a:buFont typeface="Verdana"/>
              <a:buNone/>
            </a:pPr>
            <a:r>
              <a:rPr b="1" lang="en-US" sz="112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WS:// 07 / REAL WORLD DEPLOYMENT</a:t>
            </a:r>
            <a:endParaRPr/>
          </a:p>
        </p:txBody>
      </p:sp>
      <p:sp>
        <p:nvSpPr>
          <p:cNvPr id="312" name="Google Shape;312;p15"/>
          <p:cNvSpPr/>
          <p:nvPr/>
        </p:nvSpPr>
        <p:spPr>
          <a:xfrm>
            <a:off x="495300" y="762000"/>
            <a:ext cx="11144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Deployment and maintenance</a:t>
            </a:r>
            <a:endParaRPr/>
          </a:p>
        </p:txBody>
      </p:sp>
      <p:cxnSp>
        <p:nvCxnSpPr>
          <p:cNvPr id="313" name="Google Shape;313;p15"/>
          <p:cNvCxnSpPr/>
          <p:nvPr/>
        </p:nvCxnSpPr>
        <p:spPr>
          <a:xfrm>
            <a:off x="495300" y="6238875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3945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15"/>
          <p:cNvSpPr/>
          <p:nvPr/>
        </p:nvSpPr>
        <p:spPr>
          <a:xfrm>
            <a:off x="495300" y="6419850"/>
            <a:ext cx="95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900"/>
              <a:buFont typeface="Verdana"/>
              <a:buNone/>
            </a:pPr>
            <a:r>
              <a:rPr b="0" lang="en-US" sz="9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FIRST SUBMISSION   /   27 OCT 2026</a:t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11144250" y="6381750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495300" y="2000250"/>
            <a:ext cx="2190900" cy="90480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647700" y="2143125"/>
            <a:ext cx="18861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725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Internet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725"/>
              <a:buFont typeface="Verdana"/>
              <a:buNone/>
            </a:pPr>
            <a:r>
              <a:rPr b="0"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HTTPS :443</a:t>
            </a:r>
            <a:endParaRPr sz="2000"/>
          </a:p>
        </p:txBody>
      </p:sp>
      <p:sp>
        <p:nvSpPr>
          <p:cNvPr id="307" name="Google Shape;307;p15"/>
          <p:cNvSpPr/>
          <p:nvPr/>
        </p:nvSpPr>
        <p:spPr>
          <a:xfrm>
            <a:off x="3476625" y="2000250"/>
            <a:ext cx="3238500" cy="90480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3629025" y="2143125"/>
            <a:ext cx="29337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72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Nginx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72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TLS + SPA + /api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7524750" y="2000250"/>
            <a:ext cx="4143300" cy="904800"/>
          </a:xfrm>
          <a:prstGeom prst="rect">
            <a:avLst/>
          </a:prstGeom>
          <a:solidFill>
            <a:srgbClr val="1C231B"/>
          </a:solidFill>
          <a:ln cap="flat" cmpd="sng" w="9525">
            <a:solidFill>
              <a:srgbClr val="C0FF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7677150" y="2143125"/>
            <a:ext cx="3838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72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Private Docker network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725"/>
              <a:buFont typeface="Verdana"/>
              <a:buNone/>
            </a:pPr>
            <a:r>
              <a:rPr lang="en-US" sz="2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Express + FastAPI</a:t>
            </a:r>
            <a:endParaRPr sz="20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495300" y="3200400"/>
            <a:ext cx="1120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Prototype deployment</a:t>
            </a:r>
            <a:endParaRPr sz="2400"/>
          </a:p>
        </p:txBody>
      </p:sp>
      <p:sp>
        <p:nvSpPr>
          <p:cNvPr id="320" name="Google Shape;320;p15"/>
          <p:cNvSpPr/>
          <p:nvPr/>
        </p:nvSpPr>
        <p:spPr>
          <a:xfrm>
            <a:off x="495300" y="3524250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One VPS with Docker Compose. PostgreSQL volume and separate service credentials.</a:t>
            </a:r>
            <a:endParaRPr sz="2400"/>
          </a:p>
        </p:txBody>
      </p:sp>
      <p:sp>
        <p:nvSpPr>
          <p:cNvPr id="321" name="Google Shape;321;p15"/>
          <p:cNvSpPr/>
          <p:nvPr/>
        </p:nvSpPr>
        <p:spPr>
          <a:xfrm>
            <a:off x="495300" y="4176713"/>
            <a:ext cx="1120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Operations</a:t>
            </a:r>
            <a:endParaRPr sz="2400"/>
          </a:p>
        </p:txBody>
      </p:sp>
      <p:sp>
        <p:nvSpPr>
          <p:cNvPr id="322" name="Google Shape;322;p15"/>
          <p:cNvSpPr/>
          <p:nvPr/>
        </p:nvSpPr>
        <p:spPr>
          <a:xfrm>
            <a:off x="495300" y="4500563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CI builds images and runs API tests. Health checks, structured logs and job metrics.</a:t>
            </a:r>
            <a:endParaRPr sz="2400"/>
          </a:p>
        </p:txBody>
      </p:sp>
      <p:sp>
        <p:nvSpPr>
          <p:cNvPr id="323" name="Google Shape;323;p15"/>
          <p:cNvSpPr/>
          <p:nvPr/>
        </p:nvSpPr>
        <p:spPr>
          <a:xfrm>
            <a:off x="495300" y="5153025"/>
            <a:ext cx="1120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1" lang="en-US" sz="24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Recovery and upgrades</a:t>
            </a:r>
            <a:endParaRPr sz="2400"/>
          </a:p>
        </p:txBody>
      </p:sp>
      <p:sp>
        <p:nvSpPr>
          <p:cNvPr id="324" name="Google Shape;324;p15"/>
          <p:cNvSpPr/>
          <p:nvPr/>
        </p:nvSpPr>
        <p:spPr>
          <a:xfrm>
            <a:off x="495300" y="5476875"/>
            <a:ext cx="1120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5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Daily encrypted database backups, restore tests and versioned migrations. Roll back images</a:t>
            </a: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714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h43d2fafd8e4ba775_0_8"/>
          <p:cNvSpPr/>
          <p:nvPr/>
        </p:nvSpPr>
        <p:spPr>
          <a:xfrm>
            <a:off x="495300" y="2857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125"/>
              <a:buFont typeface="Verdana"/>
              <a:buNone/>
            </a:pPr>
            <a:r>
              <a:rPr b="1" lang="en-US" sz="1125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WS:// 07 / REAL WORLD DEPLOYMENT</a:t>
            </a:r>
            <a:endParaRPr/>
          </a:p>
        </p:txBody>
      </p:sp>
      <p:sp>
        <p:nvSpPr>
          <p:cNvPr id="331" name="Google Shape;331;h43d2fafd8e4ba775_0_8"/>
          <p:cNvSpPr/>
          <p:nvPr/>
        </p:nvSpPr>
        <p:spPr>
          <a:xfrm>
            <a:off x="495300" y="762000"/>
            <a:ext cx="11144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Launch model and delivery plan</a:t>
            </a:r>
            <a:endParaRPr/>
          </a:p>
        </p:txBody>
      </p:sp>
      <p:cxnSp>
        <p:nvCxnSpPr>
          <p:cNvPr id="332" name="Google Shape;332;h43d2fafd8e4ba775_0_8"/>
          <p:cNvCxnSpPr/>
          <p:nvPr/>
        </p:nvCxnSpPr>
        <p:spPr>
          <a:xfrm>
            <a:off x="495300" y="6238875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3945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h43d2fafd8e4ba775_0_8"/>
          <p:cNvSpPr/>
          <p:nvPr/>
        </p:nvSpPr>
        <p:spPr>
          <a:xfrm>
            <a:off x="495300" y="6419850"/>
            <a:ext cx="952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900"/>
              <a:buFont typeface="Verdana"/>
              <a:buNone/>
            </a:pPr>
            <a:r>
              <a:rPr b="0" lang="en-US" sz="900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FIRST SUBMISSION   /   27 OCT 2026</a:t>
            </a:r>
            <a:endParaRPr/>
          </a:p>
        </p:txBody>
      </p:sp>
      <p:sp>
        <p:nvSpPr>
          <p:cNvPr id="334" name="Google Shape;334;h43d2fafd8e4ba775_0_8"/>
          <p:cNvSpPr/>
          <p:nvPr/>
        </p:nvSpPr>
        <p:spPr>
          <a:xfrm>
            <a:off x="11144250" y="6381750"/>
            <a:ext cx="571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1350"/>
              <a:buFont typeface="Verdana"/>
              <a:buNone/>
            </a:pPr>
            <a:r>
              <a:rPr b="0" lang="en-US" sz="135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16</a:t>
            </a:r>
            <a:endParaRPr/>
          </a:p>
        </p:txBody>
      </p:sp>
      <p:sp>
        <p:nvSpPr>
          <p:cNvPr id="335" name="Google Shape;335;h43d2fafd8e4ba775_0_8"/>
          <p:cNvSpPr/>
          <p:nvPr/>
        </p:nvSpPr>
        <p:spPr>
          <a:xfrm>
            <a:off x="495300" y="1857375"/>
            <a:ext cx="5334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2100"/>
              <a:buFont typeface="Verdana"/>
              <a:buNone/>
            </a:pPr>
            <a:r>
              <a:rPr b="1" lang="en-US" sz="28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Proposed business model</a:t>
            </a:r>
            <a:endParaRPr sz="2800"/>
          </a:p>
        </p:txBody>
      </p:sp>
      <p:sp>
        <p:nvSpPr>
          <p:cNvPr id="336" name="Google Shape;336;h43d2fafd8e4ba775_0_8"/>
          <p:cNvSpPr/>
          <p:nvPr/>
        </p:nvSpPr>
        <p:spPr>
          <a:xfrm>
            <a:off x="495300" y="2476500"/>
            <a:ext cx="51912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Free: one domain and manual scans</a:t>
            </a:r>
            <a:endParaRPr sz="24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75"/>
              <a:buFont typeface="Verdana"/>
              <a:buNone/>
            </a:pPr>
            <a:r>
              <a:t/>
            </a:r>
            <a:endParaRPr b="0" sz="24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Pro hypothesis: €9/month for five domains, history and scheduled checks</a:t>
            </a:r>
            <a:endParaRPr sz="24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75"/>
              <a:buFont typeface="Verdana"/>
              <a:buNone/>
            </a:pPr>
            <a:r>
              <a:t/>
            </a:r>
            <a:endParaRPr b="0" sz="24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75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Agency option: shared workspaces after the prototype</a:t>
            </a:r>
            <a:endParaRPr sz="2400"/>
          </a:p>
        </p:txBody>
      </p:sp>
      <p:sp>
        <p:nvSpPr>
          <p:cNvPr id="337" name="Google Shape;337;h43d2fafd8e4ba775_0_8"/>
          <p:cNvSpPr/>
          <p:nvPr/>
        </p:nvSpPr>
        <p:spPr>
          <a:xfrm>
            <a:off x="6667500" y="1857375"/>
            <a:ext cx="5000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FF39"/>
              </a:buClr>
              <a:buSzPts val="2100"/>
              <a:buFont typeface="Verdana"/>
              <a:buNone/>
            </a:pPr>
            <a:r>
              <a:rPr b="1" lang="en-US" sz="2800">
                <a:solidFill>
                  <a:srgbClr val="C0FF39"/>
                </a:solidFill>
                <a:latin typeface="Verdana"/>
                <a:ea typeface="Verdana"/>
                <a:cs typeface="Verdana"/>
                <a:sym typeface="Verdana"/>
              </a:rPr>
              <a:t>Implementation milestones</a:t>
            </a:r>
            <a:endParaRPr sz="2800"/>
          </a:p>
        </p:txBody>
      </p:sp>
      <p:sp>
        <p:nvSpPr>
          <p:cNvPr id="338" name="Google Shape;338;h43d2fafd8e4ba775_0_8"/>
          <p:cNvSpPr/>
          <p:nvPr/>
        </p:nvSpPr>
        <p:spPr>
          <a:xfrm>
            <a:off x="6667500" y="2476500"/>
            <a:ext cx="50007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Weeks 1–2: accounts and verification</a:t>
            </a:r>
            <a:endParaRPr sz="24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Weeks 3–4: worker and persisted results</a:t>
            </a:r>
            <a:endParaRPr sz="24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Weeks 5–6: SPA reports and API tests</a:t>
            </a:r>
            <a:endParaRPr sz="24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Week 7: deployment and demo</a:t>
            </a:r>
            <a:endParaRPr sz="24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t/>
            </a:r>
            <a:endParaRPr b="0" sz="2400">
              <a:solidFill>
                <a:srgbClr val="EEF3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3E8"/>
              </a:buClr>
              <a:buSzPts val="1800"/>
              <a:buFont typeface="Verdana"/>
              <a:buNone/>
            </a:pPr>
            <a:r>
              <a:rPr b="0" lang="en-US" sz="2400">
                <a:solidFill>
                  <a:srgbClr val="EEF3E8"/>
                </a:solidFill>
                <a:latin typeface="Verdana"/>
                <a:ea typeface="Verdana"/>
                <a:cs typeface="Verdana"/>
                <a:sym typeface="Verdana"/>
              </a:rPr>
              <a:t>Target prototype: 15 December 2026</a:t>
            </a:r>
            <a:endParaRPr sz="2400"/>
          </a:p>
        </p:txBody>
      </p:sp>
      <p:sp>
        <p:nvSpPr>
          <p:cNvPr id="339" name="Google Shape;339;h43d2fafd8e4ba775_0_8"/>
          <p:cNvSpPr/>
          <p:nvPr/>
        </p:nvSpPr>
        <p:spPr>
          <a:xfrm>
            <a:off x="495300" y="5476875"/>
            <a:ext cx="11049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B09A"/>
              </a:buClr>
              <a:buSzPts val="1725"/>
              <a:buFont typeface="Verdana"/>
              <a:buNone/>
            </a:pPr>
            <a:r>
              <a:rPr b="0" lang="en-US" sz="1725">
                <a:solidFill>
                  <a:srgbClr val="A3B09A"/>
                </a:solidFill>
                <a:latin typeface="Verdana"/>
                <a:ea typeface="Verdana"/>
                <a:cs typeface="Verdana"/>
                <a:sym typeface="Verdana"/>
              </a:rPr>
              <a:t>Validate willingness to pay with developer and agency interviews. Main costs: hosting, storage and outbound requests.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